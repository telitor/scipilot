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3a4a2175a4480" /><Relationship Type="http://schemas.openxmlformats.org/officeDocument/2006/relationships/extended-properties" Target="/docProps/app.xml" Id="R2ca9b505bda34935" /><Relationship Type="http://schemas.openxmlformats.org/officeDocument/2006/relationships/officeDocument" Target="/ppt/presentation.xml" Id="R60994afcae99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b39ce785641a5"/>
  </p:sldMasterIdLst>
  <p:notesMasterIdLst>
    <p:notesMasterId xmlns:r="http://schemas.openxmlformats.org/officeDocument/2006/relationships" r:id="R1b0896cdd624406e"/>
  </p:notesMasterIdLst>
  <p:sldIdLst>
    <p:sldId xmlns:r="http://schemas.openxmlformats.org/officeDocument/2006/relationships" id="256" r:id="R191c33f1a1a241c3"/>
    <p:sldId xmlns:r="http://schemas.openxmlformats.org/officeDocument/2006/relationships" id="257" r:id="R17dbf54df731478a"/>
    <p:sldId xmlns:r="http://schemas.openxmlformats.org/officeDocument/2006/relationships" id="258" r:id="R357119745f094a6c"/>
    <p:sldId xmlns:r="http://schemas.openxmlformats.org/officeDocument/2006/relationships" id="259" r:id="R6d6eb5c626954518"/>
    <p:sldId xmlns:r="http://schemas.openxmlformats.org/officeDocument/2006/relationships" id="260" r:id="R8da2cc6c7ee24758"/>
    <p:sldId xmlns:r="http://schemas.openxmlformats.org/officeDocument/2006/relationships" id="261" r:id="R5c6c0627ebe94441"/>
    <p:sldId xmlns:r="http://schemas.openxmlformats.org/officeDocument/2006/relationships" id="262" r:id="R55240b855ab64f0d"/>
    <p:sldId xmlns:r="http://schemas.openxmlformats.org/officeDocument/2006/relationships" id="263" r:id="Rec246caabf62419e"/>
    <p:sldId xmlns:r="http://schemas.openxmlformats.org/officeDocument/2006/relationships" id="264" r:id="R739eff51e51d45e5"/>
    <p:sldId xmlns:r="http://schemas.openxmlformats.org/officeDocument/2006/relationships" id="265" r:id="Rddf32561491b4cd8"/>
    <p:sldId xmlns:r="http://schemas.openxmlformats.org/officeDocument/2006/relationships" id="266" r:id="Rfe9d92ce472c4b11"/>
    <p:sldId xmlns:r="http://schemas.openxmlformats.org/officeDocument/2006/relationships" id="267" r:id="R0fa4a0d0958647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4257439f2a4758" /><Relationship Type="http://schemas.openxmlformats.org/officeDocument/2006/relationships/slideMaster" Target="/ppt/slideMasters/slideMaster1.xml" Id="R8b4b39ce785641a5" /><Relationship Type="http://schemas.openxmlformats.org/officeDocument/2006/relationships/notesMaster" Target="/ppt/notesMasters/notesMaster1.xml" Id="R1b0896cdd624406e" /><Relationship Type="http://schemas.openxmlformats.org/officeDocument/2006/relationships/presProps" Target="/ppt/presProps.xml" Id="R6be8bf394a034e16" /><Relationship Type="http://schemas.openxmlformats.org/officeDocument/2006/relationships/tableStyles" Target="/ppt/tableStyles.xml" Id="R6a18444d1bf3499c" /><Relationship Type="http://schemas.openxmlformats.org/officeDocument/2006/relationships/slide" Target="/ppt/slides/slide1.xml" Id="R191c33f1a1a241c3" /><Relationship Type="http://schemas.openxmlformats.org/officeDocument/2006/relationships/slide" Target="/ppt/slides/slide2.xml" Id="R17dbf54df731478a" /><Relationship Type="http://schemas.openxmlformats.org/officeDocument/2006/relationships/slide" Target="/ppt/slides/slide3.xml" Id="R357119745f094a6c" /><Relationship Type="http://schemas.openxmlformats.org/officeDocument/2006/relationships/slide" Target="/ppt/slides/slide4.xml" Id="R6d6eb5c626954518" /><Relationship Type="http://schemas.openxmlformats.org/officeDocument/2006/relationships/slide" Target="/ppt/slides/slide5.xml" Id="R8da2cc6c7ee24758" /><Relationship Type="http://schemas.openxmlformats.org/officeDocument/2006/relationships/slide" Target="/ppt/slides/slide6.xml" Id="R5c6c0627ebe94441" /><Relationship Type="http://schemas.openxmlformats.org/officeDocument/2006/relationships/slide" Target="/ppt/slides/slide7.xml" Id="R55240b855ab64f0d" /><Relationship Type="http://schemas.openxmlformats.org/officeDocument/2006/relationships/slide" Target="/ppt/slides/slide8.xml" Id="Rec246caabf62419e" /><Relationship Type="http://schemas.openxmlformats.org/officeDocument/2006/relationships/slide" Target="/ppt/slides/slide9.xml" Id="R739eff51e51d45e5" /><Relationship Type="http://schemas.openxmlformats.org/officeDocument/2006/relationships/slide" Target="/ppt/slides/slide10.xml" Id="Rddf32561491b4cd8" /><Relationship Type="http://schemas.openxmlformats.org/officeDocument/2006/relationships/slide" Target="/ppt/slides/slide11.xml" Id="Rfe9d92ce472c4b11" /><Relationship Type="http://schemas.openxmlformats.org/officeDocument/2006/relationships/slide" Target="/ppt/slides/slide12.xml" Id="R0fa4a0d0958647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134ab122f34d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aed6f2dd40455c" /><Relationship Type="http://schemas.openxmlformats.org/officeDocument/2006/relationships/notesMaster" Target="/ppt/notesMasters/notesMaster1.xml" Id="R8edfa44ed741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d918a273714822" /><Relationship Type="http://schemas.openxmlformats.org/officeDocument/2006/relationships/notesMaster" Target="/ppt/notesMasters/notesMaster1.xml" Id="R4444eb99e1d042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3b102ae3d84b02" /><Relationship Type="http://schemas.openxmlformats.org/officeDocument/2006/relationships/notesMaster" Target="/ppt/notesMasters/notesMaster1.xml" Id="R7f616571a16e4d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904b1122e74984" /><Relationship Type="http://schemas.openxmlformats.org/officeDocument/2006/relationships/notesMaster" Target="/ppt/notesMasters/notesMaster1.xml" Id="R6f766336aec441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96b208b4ee46d1" /><Relationship Type="http://schemas.openxmlformats.org/officeDocument/2006/relationships/notesMaster" Target="/ppt/notesMasters/notesMaster1.xml" Id="R852fdc0353f043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217484a54849c2" /><Relationship Type="http://schemas.openxmlformats.org/officeDocument/2006/relationships/notesMaster" Target="/ppt/notesMasters/notesMaster1.xml" Id="R0e4fd0aa351d43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ec9b0b43f74c36" /><Relationship Type="http://schemas.openxmlformats.org/officeDocument/2006/relationships/notesMaster" Target="/ppt/notesMasters/notesMaster1.xml" Id="Rd7683160f21f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8173ce7ff94e9f" /><Relationship Type="http://schemas.openxmlformats.org/officeDocument/2006/relationships/notesMaster" Target="/ppt/notesMasters/notesMaster1.xml" Id="R2607a01732bf48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53dd85e3af4d9c" /><Relationship Type="http://schemas.openxmlformats.org/officeDocument/2006/relationships/notesMaster" Target="/ppt/notesMasters/notesMaster1.xml" Id="R2b78f98bfda347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ab998f3a9a4a06" /><Relationship Type="http://schemas.openxmlformats.org/officeDocument/2006/relationships/notesMaster" Target="/ppt/notesMasters/notesMaster1.xml" Id="Ra9e647e66bb943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2fc5ebe3ce4197" /><Relationship Type="http://schemas.openxmlformats.org/officeDocument/2006/relationships/notesMaster" Target="/ppt/notesMasters/notesMaster1.xml" Id="Rc5404c8ac6e943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5154b3598a464f" /><Relationship Type="http://schemas.openxmlformats.org/officeDocument/2006/relationships/notesMaster" Target="/ppt/notesMasters/notesMaster1.xml" Id="R3ed29519206448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赛题方案：D:/揭榜挂帅前期工作/XH-202620_面向一流学科建设的学科垂类大模型与创新应用开发.pdf</a:t>
            </a:r>
          </a:p>
          <a:p xmlns:a="http://schemas.openxmlformats.org/drawingml/2006/main">
            <a:r>
              <a:t>报名表扫描：D:/揭榜挂帅前期工作/报名表扫描.pdf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D:/揭榜挂帅前期工作/作品名+简介.docx</a:t>
            </a:r>
          </a:p>
          <a:p xmlns:a="http://schemas.openxmlformats.org/drawingml/2006/main">
            <a:r>
              <a:t>D:/揭榜挂帅/README.md（产品定位与研究主线）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D:/揭榜挂帅/README.md（Project Space、Durable Jobs、Artifact Versions、Human Approval、Project Memory）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D:/揭榜挂帅/README.md（一条真正连续的研究主线）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D:/揭榜挂帅/README.md（为科研任务而生的智能系统）</a:t>
            </a:r>
          </a:p>
          <a:p xmlns:a="http://schemas.openxmlformats.org/drawingml/2006/main">
            <a:r>
              <a:t>D:/揭榜挂帅/KnowledgeBase/星火知识库后端接入说明.md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D:/揭榜挂帅/README.md（Built for trust）</a:t>
            </a:r>
          </a:p>
          <a:p xmlns:a="http://schemas.openxmlformats.org/drawingml/2006/main">
            <a:r>
              <a:t>D:/揭榜挂帅/docs/EXTERNAL_SERVICE_RELIABILITY.md</a:t>
            </a:r>
          </a:p>
          <a:p xmlns:a="http://schemas.openxmlformats.org/drawingml/2006/main">
            <a:r>
              <a:t>D:/揭榜挂帅/docs/PDF_OCR_AND_EXPERIMENT_SANDBOX.md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D:/揭榜挂帅/README.md（Enterprise Platform Architecture、Technology foundation）</a:t>
            </a:r>
          </a:p>
          <a:p xmlns:a="http://schemas.openxmlformats.org/drawingml/2006/main">
            <a:r>
              <a:t>D:/揭榜挂帅/SciPilot_近期工作交接报告_2026-08-14.docx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2026-08-22 本机验证命令输出：unittest、type-check、lint、build、repository_quality_gate.py</a:t>
            </a:r>
          </a:p>
          <a:p xmlns:a="http://schemas.openxmlformats.org/drawingml/2006/main">
            <a:r>
              <a:t>Git HEAD: 5b826a7；浏览器 E2E 因外置 node_modules 缺少 @playwright/test 未完成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赛题方案 PDF 第 7–12 页：评分标准与 01–07 提交材料要求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D:/揭榜挂帅/deploy/README.md</a:t>
            </a:r>
          </a:p>
          <a:p xmlns:a="http://schemas.openxmlformats.org/drawingml/2006/main">
            <a:r>
              <a:t>D:/揭榜挂帅/deploy/compose.yaml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赛题方案 PDF 第 8–12 页（内容质量、用户认可、效果验证、演示视频要求）</a:t>
            </a:r>
          </a:p>
          <a:p xmlns:a="http://schemas.openxmlformats.org/drawingml/2006/main">
            <a:r>
              <a:t>D:/揭榜挂帅/提交材料初稿/06—效果验证报告/06—效果验证报告_待真人实测补录.docx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D:/揭榜挂帅前期工作/报名表扫描.pdf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1c58be37e48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5fb61b50042aa" /><Relationship Type="http://schemas.openxmlformats.org/officeDocument/2006/relationships/slideLayout" Target="/ppt/slideLayouts/slideLayout1.xml" Id="R35d3081624be40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3081624be40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2d8122504dbf" /><Relationship Type="http://schemas.openxmlformats.org/officeDocument/2006/relationships/notesSlide" Target="/ppt/notesSlides/notesSlide1.xml" Id="R36e3e35d99e64b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cc8a1c89d4334" /><Relationship Type="http://schemas.openxmlformats.org/officeDocument/2006/relationships/notesSlide" Target="/ppt/notesSlides/notesSlide2.xml" Id="Ra3ffe066630b4a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21c78183648ba" /><Relationship Type="http://schemas.openxmlformats.org/officeDocument/2006/relationships/notesSlide" Target="/ppt/notesSlides/notesSlide3.xml" Id="R671aa163253b45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924eee9684472" /><Relationship Type="http://schemas.openxmlformats.org/officeDocument/2006/relationships/notesSlide" Target="/ppt/notesSlides/notesSlide4.xml" Id="Re173ce9e9962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3c4c0b67f4d3b" /><Relationship Type="http://schemas.openxmlformats.org/officeDocument/2006/relationships/notesSlide" Target="/ppt/notesSlides/notesSlide5.xml" Id="Rd8ecab23fa5947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c8e14dece4de8" /><Relationship Type="http://schemas.openxmlformats.org/officeDocument/2006/relationships/notesSlide" Target="/ppt/notesSlides/notesSlide6.xml" Id="R2ee5a1b0af144e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cc630beb24961" /><Relationship Type="http://schemas.openxmlformats.org/officeDocument/2006/relationships/notesSlide" Target="/ppt/notesSlides/notesSlide7.xml" Id="R609a0d106aca42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8a3be6fb046df" /><Relationship Type="http://schemas.openxmlformats.org/officeDocument/2006/relationships/notesSlide" Target="/ppt/notesSlides/notesSlide8.xml" Id="R8392ff4cb05d4d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30d066e1e4804" /><Relationship Type="http://schemas.openxmlformats.org/officeDocument/2006/relationships/notesSlide" Target="/ppt/notesSlides/notesSlide9.xml" Id="R83a343fc594545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07a5e9b9b4b2c" /><Relationship Type="http://schemas.openxmlformats.org/officeDocument/2006/relationships/notesSlide" Target="/ppt/notesSlides/notesSlide10.xml" Id="R3a90625259c148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34e2d86284163" /><Relationship Type="http://schemas.openxmlformats.org/officeDocument/2006/relationships/notesSlide" Target="/ppt/notesSlides/notesSlide11.xml" Id="R48732ccde6c645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0d02dd4004b93" /><Relationship Type="http://schemas.openxmlformats.org/officeDocument/2006/relationships/notesSlide" Target="/ppt/notesSlides/notesSlide12.xml" Id="R19e2e71f95a5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5427C9A-2E54-48B2-A8CE-B53A13C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XH-202620 · 作品方案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D530ADD-787C-4EA1-B0BF-A3242840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SciPilot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4D13874-88FB-429A-8F7D-800A16EF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面向软件工程科研训练的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垂类智能体平台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0B4A356-51AE-4A2D-B24A-B5743DC8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95400"/>
            <a:ext cx="28956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idea">
            <a:extLst xmlns:a="http://schemas.openxmlformats.org/drawingml/2006/main">
              <a:ext uri="{FF2B5EF4-FFF2-40B4-BE49-F238E27FC236}">
                <a16:creationId xmlns:a16="http://schemas.microsoft.com/office/drawing/2014/main" id="{43A0109F-132F-43F0-967A-5DA1D4A1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28800"/>
            <a:ext cx="2133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可复现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E59A38AA-2EDE-422B-B140-E50B852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609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大连理工大学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朱振源 · 吕尚霖 · 王泳豪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指导教师：范永刚</a:t>
            </a:r>
          </a:p>
        </p:txBody>
      </p:sp>
    </p:spTree>
    <p:extLst>
      <p:ext uri="{BB962C8B-B14F-4D97-AF65-F5344CB8AC3E}">
        <p14:creationId xmlns:p14="http://schemas.microsoft.com/office/powerpoint/2010/main" val="486642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EC7A7D7B-DDA6-428E-BC9A-CD520110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05C0D15-ACBE-4C83-B6B5-19545DB1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科研训练的难点，不在一次回答，而在环节之间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C4EEBC16-5178-429D-BA3B-CBBCB61F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360D220-75B5-4397-89B3-017BD69D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problem-panel-0">
            <a:extLst xmlns:a="http://schemas.openxmlformats.org/drawingml/2006/main">
              <a:ext uri="{FF2B5EF4-FFF2-40B4-BE49-F238E27FC236}">
                <a16:creationId xmlns:a16="http://schemas.microsoft.com/office/drawing/2014/main" id="{4F660495-40EE-48A8-B7A8-EC95197C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00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3F676B3E-C677-453C-A437-7AF53253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problem-head-0">
            <a:extLst xmlns:a="http://schemas.openxmlformats.org/drawingml/2006/main">
              <a:ext uri="{FF2B5EF4-FFF2-40B4-BE49-F238E27FC236}">
                <a16:creationId xmlns:a16="http://schemas.microsoft.com/office/drawing/2014/main" id="{13DCB5AF-5DAC-491C-AF5C-F2BA0785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信息碎片化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3EBDB5AF-0886-427F-9FA1-0ED4EB13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课程资料、论文、代码与实验规范分散，背景需要反复搬运。</a:t>
            </a:r>
          </a:p>
        </p:txBody>
      </p:sp>
      <p:sp>
        <p:nvSpPr>
          <p:cNvPr id="9" name="problem-panel-1">
            <a:extLst xmlns:a="http://schemas.openxmlformats.org/drawingml/2006/main">
              <a:ext uri="{FF2B5EF4-FFF2-40B4-BE49-F238E27FC236}">
                <a16:creationId xmlns:a16="http://schemas.microsoft.com/office/drawing/2014/main" id="{BAE9AF8D-7CDC-40A9-A47C-F87C0FCF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3200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B9D4FBE4-CB90-429F-A2FC-E67E1D87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384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roblem-head-1">
            <a:extLst xmlns:a="http://schemas.openxmlformats.org/drawingml/2006/main">
              <a:ext uri="{FF2B5EF4-FFF2-40B4-BE49-F238E27FC236}">
                <a16:creationId xmlns:a16="http://schemas.microsoft.com/office/drawing/2014/main" id="{E5974E86-B442-4EBE-96EC-D9B4AF6C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过程难衔接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19BA6575-080E-486F-B59D-E9469D76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论文理解、问题定义、实验设计、复现与结果解释各自孤立。</a:t>
            </a:r>
          </a:p>
        </p:txBody>
      </p:sp>
      <p:sp>
        <p:nvSpPr>
          <p:cNvPr id="13" name="problem-panel-2">
            <a:extLst xmlns:a="http://schemas.openxmlformats.org/drawingml/2006/main">
              <a:ext uri="{FF2B5EF4-FFF2-40B4-BE49-F238E27FC236}">
                <a16:creationId xmlns:a16="http://schemas.microsoft.com/office/drawing/2014/main" id="{9F3C5576-2847-4F9C-B30B-27D66725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3200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91363B49-AD88-48D7-A8D7-D2724049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problem-head-2">
            <a:extLst xmlns:a="http://schemas.openxmlformats.org/drawingml/2006/main">
              <a:ext uri="{FF2B5EF4-FFF2-40B4-BE49-F238E27FC236}">
                <a16:creationId xmlns:a16="http://schemas.microsoft.com/office/drawing/2014/main" id="{298EA6D2-1F46-4705-9040-C61AA0BF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结论难追溯</a:t>
            </a:r>
          </a:p>
        </p:txBody>
      </p:sp>
      <p:sp>
        <p:nvSpPr>
          <p:cNvPr id="16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498F23D7-A392-4A7F-A51E-DBF2276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生成内容看似完整，但证据、版本、运行记录与人工判断容易断裂。</a:t>
            </a:r>
          </a:p>
        </p:txBody>
      </p:sp>
    </p:spTree>
    <p:extLst>
      <p:ext uri="{BB962C8B-B14F-4D97-AF65-F5344CB8AC3E}">
        <p14:creationId xmlns:p14="http://schemas.microsoft.com/office/powerpoint/2010/main" val="1559119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3">
            <a:extLst xmlns:a="http://schemas.openxmlformats.org/drawingml/2006/main">
              <a:ext uri="{FF2B5EF4-FFF2-40B4-BE49-F238E27FC236}">
                <a16:creationId xmlns:a16="http://schemas.microsoft.com/office/drawing/2014/main" id="{D2567BB8-154A-4519-A1A7-BEFAB778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8073C9C-D95B-4F13-8BAC-39737EC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SciPilot 把研究项目变成可持续、可审核的工作空间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0DB327C9-7F09-4541-AD64-58F682E0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C0CE673-6DF9-427B-87AB-2F6CCBA7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solution-lead">
            <a:extLst xmlns:a="http://schemas.openxmlformats.org/drawingml/2006/main">
              <a:ext uri="{FF2B5EF4-FFF2-40B4-BE49-F238E27FC236}">
                <a16:creationId xmlns:a16="http://schemas.microsoft.com/office/drawing/2014/main" id="{022535D2-518B-40C4-A737-D55A39B5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不是再增加一个聊天窗口，而是把每次模型调用放回同一项目上下文。</a:t>
            </a:r>
          </a:p>
        </p:txBody>
      </p:sp>
      <p:sp>
        <p:nvSpPr>
          <p:cNvPr id="6" name="solution-label-0">
            <a:extLst xmlns:a="http://schemas.openxmlformats.org/drawingml/2006/main">
              <a:ext uri="{FF2B5EF4-FFF2-40B4-BE49-F238E27FC236}">
                <a16:creationId xmlns:a16="http://schemas.microsoft.com/office/drawing/2014/main" id="{34886BD5-D0FA-466B-9AC4-8F0EC072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项目上下文</a:t>
            </a:r>
          </a:p>
        </p:txBody>
      </p:sp>
      <p:sp>
        <p:nvSpPr>
          <p:cNvPr id="7" name="solution-body-0">
            <a:extLst xmlns:a="http://schemas.openxmlformats.org/drawingml/2006/main">
              <a:ext uri="{FF2B5EF4-FFF2-40B4-BE49-F238E27FC236}">
                <a16:creationId xmlns:a16="http://schemas.microsoft.com/office/drawing/2014/main" id="{69B43D1D-2001-40C7-8F74-811DBA71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论文、问题、路线、代码与结果归属于同一研究项目。</a:t>
            </a:r>
          </a:p>
        </p:txBody>
      </p:sp>
      <p:sp>
        <p:nvSpPr>
          <p:cNvPr id="8" name="solution-label-1">
            <a:extLst xmlns:a="http://schemas.openxmlformats.org/drawingml/2006/main">
              <a:ext uri="{FF2B5EF4-FFF2-40B4-BE49-F238E27FC236}">
                <a16:creationId xmlns:a16="http://schemas.microsoft.com/office/drawing/2014/main" id="{54882D33-F6DD-4943-ADA0-7B462CC9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9" name="solution-body-1">
            <a:extLst xmlns:a="http://schemas.openxmlformats.org/drawingml/2006/main">
              <a:ext uri="{FF2B5EF4-FFF2-40B4-BE49-F238E27FC236}">
                <a16:creationId xmlns:a16="http://schemas.microsoft.com/office/drawing/2014/main" id="{05889369-1D0B-4B45-B5DF-37EAC2A5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关键产物经过确认后才进入下游，研究判断始终由人掌握。</a:t>
            </a:r>
          </a:p>
        </p:txBody>
      </p:sp>
      <p:sp>
        <p:nvSpPr>
          <p:cNvPr id="10" name="solution-label-2">
            <a:extLst xmlns:a="http://schemas.openxmlformats.org/drawingml/2006/main">
              <a:ext uri="{FF2B5EF4-FFF2-40B4-BE49-F238E27FC236}">
                <a16:creationId xmlns:a16="http://schemas.microsoft.com/office/drawing/2014/main" id="{187C4C64-FA7A-4F3E-80FA-F6A215E5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持续任务</a:t>
            </a:r>
          </a:p>
        </p:txBody>
      </p:sp>
      <p:sp>
        <p:nvSpPr>
          <p:cNvPr id="11" name="solution-body-2">
            <a:extLst xmlns:a="http://schemas.openxmlformats.org/drawingml/2006/main">
              <a:ext uri="{FF2B5EF4-FFF2-40B4-BE49-F238E27FC236}">
                <a16:creationId xmlns:a16="http://schemas.microsoft.com/office/drawing/2014/main" id="{BEAF1517-2E78-45BB-8EC2-466D10D5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长任务可恢复，页面刷新或网络波动不等于研究过程丢失。</a:t>
            </a:r>
          </a:p>
        </p:txBody>
      </p:sp>
      <p:sp>
        <p:nvSpPr>
          <p:cNvPr id="12" name="solution-label-3">
            <a:extLst xmlns:a="http://schemas.openxmlformats.org/drawingml/2006/main">
              <a:ext uri="{FF2B5EF4-FFF2-40B4-BE49-F238E27FC236}">
                <a16:creationId xmlns:a16="http://schemas.microsoft.com/office/drawing/2014/main" id="{38F6CFF2-523E-4B13-8516-4327815C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证据资产</a:t>
            </a:r>
          </a:p>
        </p:txBody>
      </p:sp>
      <p:sp>
        <p:nvSpPr>
          <p:cNvPr id="13" name="solution-body-3">
            <a:extLst xmlns:a="http://schemas.openxmlformats.org/drawingml/2006/main">
              <a:ext uri="{FF2B5EF4-FFF2-40B4-BE49-F238E27FC236}">
                <a16:creationId xmlns:a16="http://schemas.microsoft.com/office/drawing/2014/main" id="{55E005DA-3EC5-4684-90B6-D5EF546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引用、版本、运行摘要、结果文件与项目记忆共同形成审计线索。</a:t>
            </a:r>
          </a:p>
        </p:txBody>
      </p:sp>
    </p:spTree>
    <p:extLst>
      <p:ext uri="{BB962C8B-B14F-4D97-AF65-F5344CB8AC3E}">
        <p14:creationId xmlns:p14="http://schemas.microsoft.com/office/powerpoint/2010/main" val="112055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4">
            <a:extLst xmlns:a="http://schemas.openxmlformats.org/drawingml/2006/main">
              <a:ext uri="{FF2B5EF4-FFF2-40B4-BE49-F238E27FC236}">
                <a16:creationId xmlns:a16="http://schemas.microsoft.com/office/drawing/2014/main" id="{28D6192D-55A2-4FBA-9853-D61B5EDC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F18F16F-ED9B-4472-AB5D-DF0F5B96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一条主线贯通论文、问题、实验、代码与结果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6025F9BF-3D44-47E6-8E62-076B3F9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F0148B6-06D0-42D8-94F3-95DED6EB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flow-0">
            <a:extLst xmlns:a="http://schemas.openxmlformats.org/drawingml/2006/main">
              <a:ext uri="{FF2B5EF4-FFF2-40B4-BE49-F238E27FC236}">
                <a16:creationId xmlns:a16="http://schemas.microsoft.com/office/drawing/2014/main" id="{58F0644C-632B-4E49-9F29-BF2BB982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step-0">
            <a:extLst xmlns:a="http://schemas.openxmlformats.org/drawingml/2006/main">
              <a:ext uri="{FF2B5EF4-FFF2-40B4-BE49-F238E27FC236}">
                <a16:creationId xmlns:a16="http://schemas.microsoft.com/office/drawing/2014/main" id="{3BCE3F99-A472-4260-9DCA-35320D86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9051332B-7B75-4C00-91A3-58DD3C41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论文精读</a:t>
            </a:r>
          </a:p>
        </p:txBody>
      </p:sp>
      <p:sp>
        <p:nvSpPr>
          <p:cNvPr id="8" name="flow-detail-0">
            <a:extLst xmlns:a="http://schemas.openxmlformats.org/drawingml/2006/main">
              <a:ext uri="{FF2B5EF4-FFF2-40B4-BE49-F238E27FC236}">
                <a16:creationId xmlns:a16="http://schemas.microsoft.com/office/drawing/2014/main" id="{642A8744-8135-492E-8C4C-330A047E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页级证据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连续追问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1F65E528-0219-41B5-B946-D88D2F43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3EBFECCF-8953-458B-B553-A9AE4E11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1405315D-ED6D-452F-B859-23DFEFAD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问题拆解</a:t>
            </a:r>
          </a:p>
        </p:txBody>
      </p:sp>
      <p:sp>
        <p:nvSpPr>
          <p:cNvPr id="12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77207BE0-F125-4650-8E0D-5169FCE6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目标约束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子任务</a:t>
            </a:r>
          </a:p>
        </p:txBody>
      </p: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C0C970E8-B752-4A06-B600-F1AEE64A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step-2">
            <a:extLst xmlns:a="http://schemas.openxmlformats.org/drawingml/2006/main">
              <a:ext uri="{FF2B5EF4-FFF2-40B4-BE49-F238E27FC236}">
                <a16:creationId xmlns:a16="http://schemas.microsoft.com/office/drawing/2014/main" id="{91269318-5EDD-4E09-8022-A0076A74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CB5F443A-9A24-457F-9A15-F1028A2C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33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实验路线</a:t>
            </a:r>
          </a:p>
        </p:txBody>
      </p:sp>
      <p:sp>
        <p:nvSpPr>
          <p:cNvPr id="16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BCB3BD86-A249-449F-B074-9C7A9363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00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基线指标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风险里程碑</a:t>
            </a:r>
          </a:p>
        </p:txBody>
      </p:sp>
      <p:sp>
        <p:nvSpPr>
          <p:cNvPr id="17" name="flow-3">
            <a:extLst xmlns:a="http://schemas.openxmlformats.org/drawingml/2006/main">
              <a:ext uri="{FF2B5EF4-FFF2-40B4-BE49-F238E27FC236}">
                <a16:creationId xmlns:a16="http://schemas.microsoft.com/office/drawing/2014/main" id="{C0B40E5D-60C5-461A-A893-17D27D93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low-step-3">
            <a:extLst xmlns:a="http://schemas.openxmlformats.org/drawingml/2006/main">
              <a:ext uri="{FF2B5EF4-FFF2-40B4-BE49-F238E27FC236}">
                <a16:creationId xmlns:a16="http://schemas.microsoft.com/office/drawing/2014/main" id="{D7E9734E-E632-4478-8215-1B20392F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C2BC3732-07C4-4FCB-A27E-74418E56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代码复现</a:t>
            </a:r>
          </a:p>
        </p:txBody>
      </p:sp>
      <p:sp>
        <p:nvSpPr>
          <p:cNvPr id="20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9F7FA523-FD9C-46B8-BB96-593A1959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仓库依赖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</p:txBody>
      </p:sp>
      <p:sp>
        <p:nvSpPr>
          <p:cNvPr id="21" name="flow-4">
            <a:extLst xmlns:a="http://schemas.openxmlformats.org/drawingml/2006/main">
              <a:ext uri="{FF2B5EF4-FFF2-40B4-BE49-F238E27FC236}">
                <a16:creationId xmlns:a16="http://schemas.microsoft.com/office/drawing/2014/main" id="{748EEB82-A069-4954-9010-99219258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step-4">
            <a:extLst xmlns:a="http://schemas.openxmlformats.org/drawingml/2006/main">
              <a:ext uri="{FF2B5EF4-FFF2-40B4-BE49-F238E27FC236}">
                <a16:creationId xmlns:a16="http://schemas.microsoft.com/office/drawing/2014/main" id="{240899A8-FEC6-4134-BC7A-B2FCA704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6AF1964E-465A-461B-8E5D-5AB7483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33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24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70A1963B-71B1-4279-8DF0-A2B7023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统计解释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25" name="flow-loop">
            <a:extLst xmlns:a="http://schemas.openxmlformats.org/drawingml/2006/main">
              <a:ext uri="{FF2B5EF4-FFF2-40B4-BE49-F238E27FC236}">
                <a16:creationId xmlns:a16="http://schemas.microsoft.com/office/drawing/2014/main" id="{4F046F12-094F-4BE1-9815-ED7F626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确认产物 → 沉淀项目记忆 → 进入下一轮研究问题</a:t>
            </a:r>
          </a:p>
        </p:txBody>
      </p:sp>
    </p:spTree>
    <p:extLst>
      <p:ext uri="{BB962C8B-B14F-4D97-AF65-F5344CB8AC3E}">
        <p14:creationId xmlns:p14="http://schemas.microsoft.com/office/powerpoint/2010/main" val="1097932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5">
            <a:extLst xmlns:a="http://schemas.openxmlformats.org/drawingml/2006/main">
              <a:ext uri="{FF2B5EF4-FFF2-40B4-BE49-F238E27FC236}">
                <a16:creationId xmlns:a16="http://schemas.microsoft.com/office/drawing/2014/main" id="{3C79FDE7-8CF1-4B48-8A02-97001059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24FAF50-13BC-4D5E-8647-5B42CD79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任务协议、专业 Agent 与领域知识共同约束垂类能力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75CD92F3-10EF-4CA3-A7E8-63E99A28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26473E7-E68B-46D3-81DE-C2A126B0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" name="intel-head-0">
            <a:extLst xmlns:a="http://schemas.openxmlformats.org/drawingml/2006/main">
              <a:ext uri="{FF2B5EF4-FFF2-40B4-BE49-F238E27FC236}">
                <a16:creationId xmlns:a16="http://schemas.microsoft.com/office/drawing/2014/main" id="{E2B9B882-0600-4D30-9153-8827FEC8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论文精读助手</a:t>
            </a:r>
          </a:p>
        </p:txBody>
      </p:sp>
      <p:sp>
        <p:nvSpPr>
          <p:cNvPr id="6" name="intel-body-0">
            <a:extLst xmlns:a="http://schemas.openxmlformats.org/drawingml/2006/main">
              <a:ext uri="{FF2B5EF4-FFF2-40B4-BE49-F238E27FC236}">
                <a16:creationId xmlns:a16="http://schemas.microsoft.com/office/drawing/2014/main" id="{566FD2C7-AB56-4041-BA2F-FB033888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识别方法、结果与证据页，并保持论文上下文。</a:t>
            </a:r>
          </a:p>
        </p:txBody>
      </p:sp>
      <p:sp>
        <p:nvSpPr>
          <p:cNvPr id="7" name="intel-head-1">
            <a:extLst xmlns:a="http://schemas.openxmlformats.org/drawingml/2006/main">
              <a:ext uri="{FF2B5EF4-FFF2-40B4-BE49-F238E27FC236}">
                <a16:creationId xmlns:a16="http://schemas.microsoft.com/office/drawing/2014/main" id="{6279A232-0084-4BBA-BFDB-A1CD6393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52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问题拆解助手</a:t>
            </a:r>
          </a:p>
        </p:txBody>
      </p:sp>
      <p:sp>
        <p:nvSpPr>
          <p:cNvPr id="8" name="intel-body-1">
            <a:extLst xmlns:a="http://schemas.openxmlformats.org/drawingml/2006/main">
              <a:ext uri="{FF2B5EF4-FFF2-40B4-BE49-F238E27FC236}">
                <a16:creationId xmlns:a16="http://schemas.microsoft.com/office/drawing/2014/main" id="{B058D046-B3F5-4BE5-BA57-40D3E94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把模糊意图转成目标、约束、难点与验收。</a:t>
            </a:r>
          </a:p>
        </p:txBody>
      </p:sp>
      <p:sp>
        <p:nvSpPr>
          <p:cNvPr id="9" name="intel-head-2">
            <a:extLst xmlns:a="http://schemas.openxmlformats.org/drawingml/2006/main">
              <a:ext uri="{FF2B5EF4-FFF2-40B4-BE49-F238E27FC236}">
                <a16:creationId xmlns:a16="http://schemas.microsoft.com/office/drawing/2014/main" id="{B752737E-EBB0-4F23-979F-FBD87EAE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实验规划助手</a:t>
            </a:r>
          </a:p>
        </p:txBody>
      </p:sp>
      <p:sp>
        <p:nvSpPr>
          <p:cNvPr id="10" name="intel-body-2">
            <a:extLst xmlns:a="http://schemas.openxmlformats.org/drawingml/2006/main">
              <a:ext uri="{FF2B5EF4-FFF2-40B4-BE49-F238E27FC236}">
                <a16:creationId xmlns:a16="http://schemas.microsoft.com/office/drawing/2014/main" id="{04D443EE-57D5-4051-8EAE-756275F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组织基线、数据集、指标、风险和里程碑。</a:t>
            </a:r>
          </a:p>
        </p:txBody>
      </p:sp>
      <p:sp>
        <p:nvSpPr>
          <p:cNvPr id="11" name="intel-head-3">
            <a:extLst xmlns:a="http://schemas.openxmlformats.org/drawingml/2006/main">
              <a:ext uri="{FF2B5EF4-FFF2-40B4-BE49-F238E27FC236}">
                <a16:creationId xmlns:a16="http://schemas.microsoft.com/office/drawing/2014/main" id="{BC914C5F-4BD5-4C4D-995E-9927F17D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代码复现助手</a:t>
            </a:r>
          </a:p>
        </p:txBody>
      </p:sp>
      <p:sp>
        <p:nvSpPr>
          <p:cNvPr id="12" name="intel-body-3">
            <a:extLst xmlns:a="http://schemas.openxmlformats.org/drawingml/2006/main">
              <a:ext uri="{FF2B5EF4-FFF2-40B4-BE49-F238E27FC236}">
                <a16:creationId xmlns:a16="http://schemas.microsoft.com/office/drawing/2014/main" id="{379841DE-CC38-4DDD-9425-7E315AD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分析仓库、依赖与入口，受控采集运行证据。</a:t>
            </a:r>
          </a:p>
        </p:txBody>
      </p:sp>
      <p:sp>
        <p:nvSpPr>
          <p:cNvPr id="13" name="intel-head-4">
            <a:extLst xmlns:a="http://schemas.openxmlformats.org/drawingml/2006/main">
              <a:ext uri="{FF2B5EF4-FFF2-40B4-BE49-F238E27FC236}">
                <a16:creationId xmlns:a16="http://schemas.microsoft.com/office/drawing/2014/main" id="{7EDA2486-92E4-4CBA-A2B6-F93E6D43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71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结果分析助手</a:t>
            </a:r>
          </a:p>
        </p:txBody>
      </p:sp>
      <p:sp>
        <p:nvSpPr>
          <p:cNvPr id="14" name="intel-body-4">
            <a:extLst xmlns:a="http://schemas.openxmlformats.org/drawingml/2006/main">
              <a:ext uri="{FF2B5EF4-FFF2-40B4-BE49-F238E27FC236}">
                <a16:creationId xmlns:a16="http://schemas.microsoft.com/office/drawing/2014/main" id="{FF198F5C-61A3-4E66-9E5A-9E2204BB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244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解释指标变化、异常、可信边界与下一轮验证。</a:t>
            </a:r>
          </a:p>
        </p:txBody>
      </p:sp>
      <p:sp>
        <p:nvSpPr>
          <p:cNvPr id="15" name="intel-head-5">
            <a:extLst xmlns:a="http://schemas.openxmlformats.org/drawingml/2006/main">
              <a:ext uri="{FF2B5EF4-FFF2-40B4-BE49-F238E27FC236}">
                <a16:creationId xmlns:a16="http://schemas.microsoft.com/office/drawing/2014/main" id="{E6111920-7039-44EA-A989-CE7625F2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统一知识增强</a:t>
            </a:r>
          </a:p>
        </p:txBody>
      </p:sp>
      <p:sp>
        <p:nvSpPr>
          <p:cNvPr id="16" name="intel-body-5">
            <a:extLst xmlns:a="http://schemas.openxmlformats.org/drawingml/2006/main">
              <a:ext uri="{FF2B5EF4-FFF2-40B4-BE49-F238E27FC236}">
                <a16:creationId xmlns:a16="http://schemas.microsoft.com/office/drawing/2014/main" id="{672A1F3F-7459-41B6-93DD-0326431D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244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ChatDoc 检索 + MaaS 生成，回答与引用分离展示。</a:t>
            </a:r>
          </a:p>
        </p:txBody>
      </p:sp>
    </p:spTree>
    <p:extLst>
      <p:ext uri="{BB962C8B-B14F-4D97-AF65-F5344CB8AC3E}">
        <p14:creationId xmlns:p14="http://schemas.microsoft.com/office/powerpoint/2010/main" val="1776589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6">
            <a:extLst xmlns:a="http://schemas.openxmlformats.org/drawingml/2006/main">
              <a:ext uri="{FF2B5EF4-FFF2-40B4-BE49-F238E27FC236}">
                <a16:creationId xmlns:a16="http://schemas.microsoft.com/office/drawing/2014/main" id="{CDD6FD05-8123-4C4B-AD43-1911DD53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242CE43-6627-4A1E-AAEC-929FD8C1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可信不是一句口号，而是贯穿数据、生成与执行的边界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D000E884-A2C3-4202-BFC2-5A0E9AAA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0563A903-106D-49DF-935C-52F81E61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" name="trust-left-panel">
            <a:extLst xmlns:a="http://schemas.openxmlformats.org/drawingml/2006/main">
              <a:ext uri="{FF2B5EF4-FFF2-40B4-BE49-F238E27FC236}">
                <a16:creationId xmlns:a16="http://schemas.microsoft.com/office/drawing/2014/main" id="{0F9D7C92-B160-4576-A69F-44F99CA2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ust-right-panel">
            <a:extLst xmlns:a="http://schemas.openxmlformats.org/drawingml/2006/main">
              <a:ext uri="{FF2B5EF4-FFF2-40B4-BE49-F238E27FC236}">
                <a16:creationId xmlns:a16="http://schemas.microsoft.com/office/drawing/2014/main" id="{B2AF8137-C688-49E4-8127-A40D4E48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5753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ust-left-title">
            <a:extLst xmlns:a="http://schemas.openxmlformats.org/drawingml/2006/main">
              <a:ext uri="{FF2B5EF4-FFF2-40B4-BE49-F238E27FC236}">
                <a16:creationId xmlns:a16="http://schemas.microsoft.com/office/drawing/2014/main" id="{FEC284C3-326E-4AA4-B3AB-0A3BC59B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数据与证据</a:t>
            </a:r>
          </a:p>
        </p:txBody>
      </p:sp>
      <p:sp>
        <p:nvSpPr>
          <p:cNvPr id="8" name="trust-left">
            <a:extLst xmlns:a="http://schemas.openxmlformats.org/drawingml/2006/main">
              <a:ext uri="{FF2B5EF4-FFF2-40B4-BE49-F238E27FC236}">
                <a16:creationId xmlns:a16="http://schemas.microsoft.com/office/drawing/2014/main" id="{57DF17AC-9635-43C5-924E-6179584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服务端凭据：密钥不进入浏览器或文档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项目归属 + RLS：核心资产按用户与项目隔离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证据与版本：结论回到论文页、运行和结果文件</a:t>
            </a:r>
          </a:p>
        </p:txBody>
      </p:sp>
      <p:sp>
        <p:nvSpPr>
          <p:cNvPr id="9" name="trust-right-title">
            <a:extLst xmlns:a="http://schemas.openxmlformats.org/drawingml/2006/main">
              <a:ext uri="{FF2B5EF4-FFF2-40B4-BE49-F238E27FC236}">
                <a16:creationId xmlns:a16="http://schemas.microsoft.com/office/drawing/2014/main" id="{D3182520-F671-4302-84A0-0C383E97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生成与执行</a:t>
            </a:r>
          </a:p>
        </p:txBody>
      </p:sp>
      <p:sp>
        <p:nvSpPr>
          <p:cNvPr id="10" name="trust-right">
            <a:extLst xmlns:a="http://schemas.openxmlformats.org/drawingml/2006/main">
              <a:ext uri="{FF2B5EF4-FFF2-40B4-BE49-F238E27FC236}">
                <a16:creationId xmlns:a16="http://schemas.microsoft.com/office/drawing/2014/main" id="{D19B37D6-93E6-45F4-B59C-82F71633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人工确认：关键科研判断不被自动化越权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可靠性治理：超时、重试安全、熔断与脱敏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受控执行：白名单、无网络、限资源、默认关闭</a:t>
            </a:r>
          </a:p>
        </p:txBody>
      </p:sp>
    </p:spTree>
    <p:extLst>
      <p:ext uri="{BB962C8B-B14F-4D97-AF65-F5344CB8AC3E}">
        <p14:creationId xmlns:p14="http://schemas.microsoft.com/office/powerpoint/2010/main" val="1423114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7">
            <a:extLst xmlns:a="http://schemas.openxmlformats.org/drawingml/2006/main">
              <a:ext uri="{FF2B5EF4-FFF2-40B4-BE49-F238E27FC236}">
                <a16:creationId xmlns:a16="http://schemas.microsoft.com/office/drawing/2014/main" id="{419CAA2D-DEDC-4EB5-89B2-954A88DA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0827B45-9542-4862-AEC9-49488592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前端只访问 FastAPI，外部智能服务统一留在后端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469B3A8E-4388-40FB-8913-B0C1F6DE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2E83BD6C-114C-44D3-A5AB-BC56213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arch-bar-0">
            <a:extLst xmlns:a="http://schemas.openxmlformats.org/drawingml/2006/main">
              <a:ext uri="{FF2B5EF4-FFF2-40B4-BE49-F238E27FC236}">
                <a16:creationId xmlns:a16="http://schemas.microsoft.com/office/drawing/2014/main" id="{21788EAD-4A9A-4118-A4CF-595213E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1125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B0F36B8D-F847-4715-A7DA-08DCF930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体验层</a:t>
            </a:r>
          </a:p>
        </p:txBody>
      </p:sp>
      <p:sp>
        <p:nvSpPr>
          <p:cNvPr id="7" name="arch-body-0">
            <a:extLst xmlns:a="http://schemas.openxmlformats.org/drawingml/2006/main">
              <a:ext uri="{FF2B5EF4-FFF2-40B4-BE49-F238E27FC236}">
                <a16:creationId xmlns:a16="http://schemas.microsoft.com/office/drawing/2014/main" id="{3CFF8AD0-01F6-4746-8564-ED0DAF0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241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React 18 · TypeScript · 项目化工作台 · 状态恢复</a:t>
            </a:r>
          </a:p>
        </p:txBody>
      </p:sp>
      <p:sp>
        <p:nvSpPr>
          <p:cNvPr id="8" name="arch-bar-1">
            <a:extLst xmlns:a="http://schemas.openxmlformats.org/drawingml/2006/main">
              <a:ext uri="{FF2B5EF4-FFF2-40B4-BE49-F238E27FC236}">
                <a16:creationId xmlns:a16="http://schemas.microsoft.com/office/drawing/2014/main" id="{5CB9FD76-CDE7-4052-B092-1B307FF9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11125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4CA292EC-3E97-4B1A-9506-02F1A05A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</p:txBody>
      </p:sp>
      <p:sp>
        <p:nvSpPr>
          <p:cNvPr id="10" name="arch-body-1">
            <a:extLst xmlns:a="http://schemas.openxmlformats.org/drawingml/2006/main">
              <a:ext uri="{FF2B5EF4-FFF2-40B4-BE49-F238E27FC236}">
                <a16:creationId xmlns:a16="http://schemas.microsoft.com/office/drawing/2014/main" id="{07E14D5D-89E2-4D5E-9B29-80442AD5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FastAPI · 鉴权归属 · 持久任务 · 版本/记忆/质量治理</a:t>
            </a:r>
          </a:p>
        </p:txBody>
      </p:sp>
      <p:sp>
        <p:nvSpPr>
          <p:cNvPr id="11" name="arch-bar-2">
            <a:extLst xmlns:a="http://schemas.openxmlformats.org/drawingml/2006/main">
              <a:ext uri="{FF2B5EF4-FFF2-40B4-BE49-F238E27FC236}">
                <a16:creationId xmlns:a16="http://schemas.microsoft.com/office/drawing/2014/main" id="{FF8DEE9F-CC2E-4934-9BB2-C1398299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E99ED843-D56A-4E36-894E-E8FA6C08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智能层</a:t>
            </a:r>
          </a:p>
        </p:txBody>
      </p:sp>
      <p:sp>
        <p:nvSpPr>
          <p:cNvPr id="13" name="arch-body-2">
            <a:extLst xmlns:a="http://schemas.openxmlformats.org/drawingml/2006/main">
              <a:ext uri="{FF2B5EF4-FFF2-40B4-BE49-F238E27FC236}">
                <a16:creationId xmlns:a16="http://schemas.microsoft.com/office/drawing/2014/main" id="{FBE1AD0B-4171-4468-8A5A-A9CD42E2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053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星辰专业 Agent · MaaS 微调模型 · ChatDoc 检索与引用</a:t>
            </a:r>
          </a:p>
        </p:txBody>
      </p:sp>
      <p:sp>
        <p:nvSpPr>
          <p:cNvPr id="14" name="arch-bar-3">
            <a:extLst xmlns:a="http://schemas.openxmlformats.org/drawingml/2006/main">
              <a:ext uri="{FF2B5EF4-FFF2-40B4-BE49-F238E27FC236}">
                <a16:creationId xmlns:a16="http://schemas.microsoft.com/office/drawing/2014/main" id="{24CF0159-EC76-4B63-BD6E-29CA0C9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3DA12F69-9C7B-41A8-8489-EF8EFDE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6" name="arch-body-3">
            <a:extLst xmlns:a="http://schemas.openxmlformats.org/drawingml/2006/main">
              <a:ext uri="{FF2B5EF4-FFF2-40B4-BE49-F238E27FC236}">
                <a16:creationId xmlns:a16="http://schemas.microsoft.com/office/drawing/2014/main" id="{F4AA22EC-9B12-40D1-93AF-E53CC153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95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Supabase Auth · PostgreSQL · Storage · RLS</a:t>
            </a:r>
          </a:p>
        </p:txBody>
      </p:sp>
    </p:spTree>
    <p:extLst>
      <p:ext uri="{BB962C8B-B14F-4D97-AF65-F5344CB8AC3E}">
        <p14:creationId xmlns:p14="http://schemas.microsoft.com/office/powerpoint/2010/main" val="177269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8">
            <a:extLst xmlns:a="http://schemas.openxmlformats.org/drawingml/2006/main">
              <a:ext uri="{FF2B5EF4-FFF2-40B4-BE49-F238E27FC236}">
                <a16:creationId xmlns:a16="http://schemas.microsoft.com/office/drawing/2014/main" id="{3D77416E-391E-4ED0-A90E-41F83FEF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B1AEFEA-560F-467B-90E4-23EB7363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当前代码通过本轮工程门禁，但真人效果仍需另行验证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A610DE7F-5D81-4B31-A6E9-8761FBFD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2DDFC8CC-81E3-4444-AE4E-3E2AAD1D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stat-panel-0">
            <a:extLst xmlns:a="http://schemas.openxmlformats.org/drawingml/2006/main">
              <a:ext uri="{FF2B5EF4-FFF2-40B4-BE49-F238E27FC236}">
                <a16:creationId xmlns:a16="http://schemas.microsoft.com/office/drawing/2014/main" id="{89EEA528-E7C1-49A2-A11E-1D38A1D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339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-num-0">
            <a:extLst xmlns:a="http://schemas.openxmlformats.org/drawingml/2006/main">
              <a:ext uri="{FF2B5EF4-FFF2-40B4-BE49-F238E27FC236}">
                <a16:creationId xmlns:a16="http://schemas.microsoft.com/office/drawing/2014/main" id="{45A811FC-42EE-4B11-8267-A7CFCC60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243</a:t>
            </a:r>
          </a:p>
        </p:txBody>
      </p:sp>
      <p:sp>
        <p:nvSpPr>
          <p:cNvPr id="7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B1ED2EB6-E42E-4D47-B678-D48390AF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共运行 244，跳过 1</a:t>
            </a:r>
          </a:p>
        </p:txBody>
      </p:sp>
      <p:sp>
        <p:nvSpPr>
          <p:cNvPr id="8" name="stat-panel-1">
            <a:extLst xmlns:a="http://schemas.openxmlformats.org/drawingml/2006/main">
              <a:ext uri="{FF2B5EF4-FFF2-40B4-BE49-F238E27FC236}">
                <a16:creationId xmlns:a16="http://schemas.microsoft.com/office/drawing/2014/main" id="{5EEAE414-4CA0-41A9-8F14-857E14AC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339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t-num-1">
            <a:extLst xmlns:a="http://schemas.openxmlformats.org/drawingml/2006/main">
              <a:ext uri="{FF2B5EF4-FFF2-40B4-BE49-F238E27FC236}">
                <a16:creationId xmlns:a16="http://schemas.microsoft.com/office/drawing/2014/main" id="{DC511B25-9725-4356-BDC2-03B5E01F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5FCBA62-6E08-43CB-A1F7-2A2A22B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数据库迁移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仓库门禁核查</a:t>
            </a:r>
          </a:p>
        </p:txBody>
      </p:sp>
      <p:sp>
        <p:nvSpPr>
          <p:cNvPr id="11" name="stat-panel-2">
            <a:extLst xmlns:a="http://schemas.openxmlformats.org/drawingml/2006/main">
              <a:ext uri="{FF2B5EF4-FFF2-40B4-BE49-F238E27FC236}">
                <a16:creationId xmlns:a16="http://schemas.microsoft.com/office/drawing/2014/main" id="{3CF47397-12C1-43FD-B2D2-A902102E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39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t-num-2">
            <a:extLst xmlns:a="http://schemas.openxmlformats.org/drawingml/2006/main">
              <a:ext uri="{FF2B5EF4-FFF2-40B4-BE49-F238E27FC236}">
                <a16:creationId xmlns:a16="http://schemas.microsoft.com/office/drawing/2014/main" id="{694C9E88-388C-4D27-9C4A-E363FBF1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323</a:t>
            </a:r>
          </a:p>
        </p:txBody>
      </p:sp>
      <p:sp>
        <p:nvSpPr>
          <p:cNvPr id="13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AD160B05-3665-4866-9F77-13451BCE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仓库文件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通过质量门禁</a:t>
            </a:r>
          </a:p>
        </p:txBody>
      </p:sp>
      <p:sp>
        <p:nvSpPr>
          <p:cNvPr id="14" name="quality-line">
            <a:extLst xmlns:a="http://schemas.openxmlformats.org/drawingml/2006/main">
              <a:ext uri="{FF2B5EF4-FFF2-40B4-BE49-F238E27FC236}">
                <a16:creationId xmlns:a16="http://schemas.microsoft.com/office/drawing/2014/main" id="{0E563EAB-990A-4E41-977E-9CBE1E0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类型检查 ✓   ESLint ✓   生产构建与 bundle 校验 ✓   浏览器 E2E：待补依赖后重跑</a:t>
            </a:r>
          </a:p>
        </p:txBody>
      </p:sp>
    </p:spTree>
    <p:extLst>
      <p:ext uri="{BB962C8B-B14F-4D97-AF65-F5344CB8AC3E}">
        <p14:creationId xmlns:p14="http://schemas.microsoft.com/office/powerpoint/2010/main" val="293606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9">
            <a:extLst xmlns:a="http://schemas.openxmlformats.org/drawingml/2006/main">
              <a:ext uri="{FF2B5EF4-FFF2-40B4-BE49-F238E27FC236}">
                <a16:creationId xmlns:a16="http://schemas.microsoft.com/office/drawing/2014/main" id="{60E2DB3A-CA94-43C6-8194-965274E4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71AFA2C-C804-4D69-9C82-DD8AC284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七个评分维度，都需要“功能 + 证据”共同作答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95642E66-F2B0-481E-A29B-11AEECEE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DCB5CD37-E31C-4474-BEDD-B32C7961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score-lead">
            <a:extLst xmlns:a="http://schemas.openxmlformats.org/drawingml/2006/main">
              <a:ext uri="{FF2B5EF4-FFF2-40B4-BE49-F238E27FC236}">
                <a16:creationId xmlns:a16="http://schemas.microsoft.com/office/drawing/2014/main" id="{765E5C34-BE82-4D38-8B11-69CF1C11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赛题不是只看技术清单；评审要求真实场景、可核查输出与用户记录。</a:t>
            </a:r>
          </a:p>
        </p:txBody>
      </p:sp>
      <p:sp>
        <p:nvSpPr>
          <p:cNvPr id="6" name="score-left-panel">
            <a:extLst xmlns:a="http://schemas.openxmlformats.org/drawingml/2006/main">
              <a:ext uri="{FF2B5EF4-FFF2-40B4-BE49-F238E27FC236}">
                <a16:creationId xmlns:a16="http://schemas.microsoft.com/office/drawing/2014/main" id="{517783C1-D167-4EDB-9FE3-5448D2C7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552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re-right-panel">
            <a:extLst xmlns:a="http://schemas.openxmlformats.org/drawingml/2006/main">
              <a:ext uri="{FF2B5EF4-FFF2-40B4-BE49-F238E27FC236}">
                <a16:creationId xmlns:a16="http://schemas.microsoft.com/office/drawing/2014/main" id="{4FAC6463-C86F-4386-91D1-E5A910EF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5429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re-left">
            <a:extLst xmlns:a="http://schemas.openxmlformats.org/drawingml/2006/main">
              <a:ext uri="{FF2B5EF4-FFF2-40B4-BE49-F238E27FC236}">
                <a16:creationId xmlns:a16="http://schemas.microsoft.com/office/drawing/2014/main" id="{7595737C-7473-42A8-B9E3-F059791A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4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完成度｜闭环主线与稳定 Demo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4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实用度｜真实科研训练痛点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4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实现度｜Agent、RAG、数据与执行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4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先进性｜证据、审批、可恢复任务</a:t>
            </a:r>
          </a:p>
        </p:txBody>
      </p:sp>
      <p:sp>
        <p:nvSpPr>
          <p:cNvPr id="9" name="score-right">
            <a:extLst xmlns:a="http://schemas.openxmlformats.org/drawingml/2006/main">
              <a:ext uri="{FF2B5EF4-FFF2-40B4-BE49-F238E27FC236}">
                <a16:creationId xmlns:a16="http://schemas.microsoft.com/office/drawing/2014/main" id="{BBA16AC3-2434-4D87-A023-DDC2C475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内容质量｜≥3 典型问题准确性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商业化｜课程/院系可复制路径</a:t>
            </a:r>
          </a:p>
          <a:p xmlns:a="http://schemas.openxmlformats.org/drawingml/2006/main">
            <a:pPr marL="24" indent="-12" algn="l">
              <a:lnSpc>
                <a:spcPct val="112000"/>
              </a:lnSpc>
              <a:spcAft>
                <a:spcPts val="18"/>
              </a:spcAft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用户认可｜≥2 真人，争取 50+ 规模</a:t>
            </a:r>
          </a:p>
        </p:txBody>
      </p:sp>
    </p:spTree>
    <p:extLst>
      <p:ext uri="{BB962C8B-B14F-4D97-AF65-F5344CB8AC3E}">
        <p14:creationId xmlns:p14="http://schemas.microsoft.com/office/powerpoint/2010/main" val="1372313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0">
            <a:extLst xmlns:a="http://schemas.openxmlformats.org/drawingml/2006/main">
              <a:ext uri="{FF2B5EF4-FFF2-40B4-BE49-F238E27FC236}">
                <a16:creationId xmlns:a16="http://schemas.microsoft.com/office/drawing/2014/main" id="{5379AC6D-EE0B-4643-9E14-3738ED2A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9E25F0DF-6B9C-4C91-ABE2-0986107B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从校内科研训练切入，形成可复制的院系级服务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2EF62EDA-E91F-43DC-AFB6-4B1E5929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6A1B889E-E2A0-4DB9-8D33-A5A31130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scale-num-0">
            <a:extLst xmlns:a="http://schemas.openxmlformats.org/drawingml/2006/main">
              <a:ext uri="{FF2B5EF4-FFF2-40B4-BE49-F238E27FC236}">
                <a16:creationId xmlns:a16="http://schemas.microsoft.com/office/drawing/2014/main" id="{BE763C18-C1CE-42CE-BB15-468F4689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cale-title-0">
            <a:extLst xmlns:a="http://schemas.openxmlformats.org/drawingml/2006/main">
              <a:ext uri="{FF2B5EF4-FFF2-40B4-BE49-F238E27FC236}">
                <a16:creationId xmlns:a16="http://schemas.microsoft.com/office/drawing/2014/main" id="{A1437186-360D-4C36-AC58-6F0B37A7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课程内</a:t>
            </a:r>
          </a:p>
        </p:txBody>
      </p:sp>
      <p:sp>
        <p:nvSpPr>
          <p:cNvPr id="7" name="scale-body-0">
            <a:extLst xmlns:a="http://schemas.openxmlformats.org/drawingml/2006/main">
              <a:ext uri="{FF2B5EF4-FFF2-40B4-BE49-F238E27FC236}">
                <a16:creationId xmlns:a16="http://schemas.microsoft.com/office/drawing/2014/main" id="{DAC77810-781A-40C5-A639-736124FD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论文精读、问题拆解与实验规范训练</a:t>
            </a:r>
          </a:p>
        </p:txBody>
      </p:sp>
      <p:sp>
        <p:nvSpPr>
          <p:cNvPr id="8" name="scale-num-1">
            <a:extLst xmlns:a="http://schemas.openxmlformats.org/drawingml/2006/main">
              <a:ext uri="{FF2B5EF4-FFF2-40B4-BE49-F238E27FC236}">
                <a16:creationId xmlns:a16="http://schemas.microsoft.com/office/drawing/2014/main" id="{E8F79CAA-FFAD-41E3-98DA-65740670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cale-title-1">
            <a:extLst xmlns:a="http://schemas.openxmlformats.org/drawingml/2006/main">
              <a:ext uri="{FF2B5EF4-FFF2-40B4-BE49-F238E27FC236}">
                <a16:creationId xmlns:a16="http://schemas.microsoft.com/office/drawing/2014/main" id="{D2B6E405-70AD-4ABA-8DC7-940D6666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14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实验室</a:t>
            </a:r>
          </a:p>
        </p:txBody>
      </p:sp>
      <p:sp>
        <p:nvSpPr>
          <p:cNvPr id="10" name="scale-body-1">
            <a:extLst xmlns:a="http://schemas.openxmlformats.org/drawingml/2006/main">
              <a:ext uri="{FF2B5EF4-FFF2-40B4-BE49-F238E27FC236}">
                <a16:creationId xmlns:a16="http://schemas.microsoft.com/office/drawing/2014/main" id="{C15F8BBB-A187-443C-ADF3-5EAC5015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项目资产、复现记录、结果与经验沉淀</a:t>
            </a:r>
          </a:p>
        </p:txBody>
      </p:sp>
      <p:sp>
        <p:nvSpPr>
          <p:cNvPr id="11" name="scale-num-2">
            <a:extLst xmlns:a="http://schemas.openxmlformats.org/drawingml/2006/main">
              <a:ext uri="{FF2B5EF4-FFF2-40B4-BE49-F238E27FC236}">
                <a16:creationId xmlns:a16="http://schemas.microsoft.com/office/drawing/2014/main" id="{38DBA662-F378-4BB0-866F-E771C0DD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scale-title-2">
            <a:extLst xmlns:a="http://schemas.openxmlformats.org/drawingml/2006/main">
              <a:ext uri="{FF2B5EF4-FFF2-40B4-BE49-F238E27FC236}">
                <a16:creationId xmlns:a16="http://schemas.microsoft.com/office/drawing/2014/main" id="{416131BE-B621-4C80-8A3B-A37A585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院系级</a:t>
            </a:r>
          </a:p>
        </p:txBody>
      </p:sp>
      <p:sp>
        <p:nvSpPr>
          <p:cNvPr id="13" name="scale-body-2">
            <a:extLst xmlns:a="http://schemas.openxmlformats.org/drawingml/2006/main">
              <a:ext uri="{FF2B5EF4-FFF2-40B4-BE49-F238E27FC236}">
                <a16:creationId xmlns:a16="http://schemas.microsoft.com/office/drawing/2014/main" id="{472FB377-C5F2-4202-92B9-4930A290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统一身份、私有知识、治理与质量评测</a:t>
            </a:r>
          </a:p>
        </p:txBody>
      </p:sp>
      <p:sp>
        <p:nvSpPr>
          <p:cNvPr id="14" name="scale-foundation">
            <a:extLst xmlns:a="http://schemas.openxmlformats.org/drawingml/2006/main">
              <a:ext uri="{FF2B5EF4-FFF2-40B4-BE49-F238E27FC236}">
                <a16:creationId xmlns:a16="http://schemas.microsoft.com/office/drawing/2014/main" id="{231FFFE7-D763-413A-A31E-BA874A59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生产基线：非 root 容器 · HTTPS 入口 · 配置预检 · 健康验证 · 日志轮转 · 可验证回滚</a:t>
            </a:r>
          </a:p>
        </p:txBody>
      </p:sp>
    </p:spTree>
    <p:extLst>
      <p:ext uri="{BB962C8B-B14F-4D97-AF65-F5344CB8AC3E}">
        <p14:creationId xmlns:p14="http://schemas.microsoft.com/office/powerpoint/2010/main" val="867927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11">
            <a:extLst xmlns:a="http://schemas.openxmlformats.org/drawingml/2006/main">
              <a:ext uri="{FF2B5EF4-FFF2-40B4-BE49-F238E27FC236}">
                <a16:creationId xmlns:a16="http://schemas.microsoft.com/office/drawing/2014/main" id="{959D4513-4D85-4A67-A659-F9A88F94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 / XH-202620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22A6773-4ECE-4B11-8EBE-081538B5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下一步补齐真实证据：用户、准确性、Demo、外网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886FD108-3B37-42A8-A0DA-0B35A700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780E623A-848C-41FF-9A0F-AD34C08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validate-index-0">
            <a:extLst xmlns:a="http://schemas.openxmlformats.org/drawingml/2006/main">
              <a:ext uri="{FF2B5EF4-FFF2-40B4-BE49-F238E27FC236}">
                <a16:creationId xmlns:a16="http://schemas.microsoft.com/office/drawing/2014/main" id="{99E4F7F2-64F6-4E0E-82F0-CC8319BE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validate-head-0">
            <a:extLst xmlns:a="http://schemas.openxmlformats.org/drawingml/2006/main">
              <a:ext uri="{FF2B5EF4-FFF2-40B4-BE49-F238E27FC236}">
                <a16:creationId xmlns:a16="http://schemas.microsoft.com/office/drawing/2014/main" id="{E7ECD8D1-88FD-47D4-BC03-C1342CC2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真实用户</a:t>
            </a:r>
          </a:p>
        </p:txBody>
      </p:sp>
      <p:sp>
        <p:nvSpPr>
          <p:cNvPr id="7" name="validate-body-0">
            <a:extLst xmlns:a="http://schemas.openxmlformats.org/drawingml/2006/main">
              <a:ext uri="{FF2B5EF4-FFF2-40B4-BE49-F238E27FC236}">
                <a16:creationId xmlns:a16="http://schemas.microsoft.com/office/drawing/2014/main" id="{0AB9B99B-7E2F-4788-8C43-3ACF2991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至少 1 名教师 + 1 名学生，记录任务、时长、反馈与授权。</a:t>
            </a:r>
          </a:p>
        </p:txBody>
      </p:sp>
      <p:sp>
        <p:nvSpPr>
          <p:cNvPr id="8" name="validate-index-1">
            <a:extLst xmlns:a="http://schemas.openxmlformats.org/drawingml/2006/main">
              <a:ext uri="{FF2B5EF4-FFF2-40B4-BE49-F238E27FC236}">
                <a16:creationId xmlns:a16="http://schemas.microsoft.com/office/drawing/2014/main" id="{2DCC111D-6FF8-4AC1-A0E4-A2E119E4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validate-head-1">
            <a:extLst xmlns:a="http://schemas.openxmlformats.org/drawingml/2006/main">
              <a:ext uri="{FF2B5EF4-FFF2-40B4-BE49-F238E27FC236}">
                <a16:creationId xmlns:a16="http://schemas.microsoft.com/office/drawing/2014/main" id="{60FC7CCB-D321-4795-B93C-81DA986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准确性</a:t>
            </a:r>
          </a:p>
        </p:txBody>
      </p:sp>
      <p:sp>
        <p:nvSpPr>
          <p:cNvPr id="10" name="validate-body-1">
            <a:extLst xmlns:a="http://schemas.openxmlformats.org/drawingml/2006/main">
              <a:ext uri="{FF2B5EF4-FFF2-40B4-BE49-F238E27FC236}">
                <a16:creationId xmlns:a16="http://schemas.microsoft.com/office/drawing/2014/main" id="{CA073DEC-5BB2-4D74-B973-55B3702D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至少 3 个典型问题，保存标准答案、权威来源、输出与人工判定。</a:t>
            </a:r>
          </a:p>
        </p:txBody>
      </p:sp>
      <p:sp>
        <p:nvSpPr>
          <p:cNvPr id="11" name="validate-index-2">
            <a:extLst xmlns:a="http://schemas.openxmlformats.org/drawingml/2006/main">
              <a:ext uri="{FF2B5EF4-FFF2-40B4-BE49-F238E27FC236}">
                <a16:creationId xmlns:a16="http://schemas.microsoft.com/office/drawing/2014/main" id="{0F92D905-73AC-4E05-9A66-5930FA6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validate-head-2">
            <a:extLst xmlns:a="http://schemas.openxmlformats.org/drawingml/2006/main">
              <a:ext uri="{FF2B5EF4-FFF2-40B4-BE49-F238E27FC236}">
                <a16:creationId xmlns:a16="http://schemas.microsoft.com/office/drawing/2014/main" id="{410E4162-299A-4759-B9C0-554D829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演示</a:t>
            </a:r>
          </a:p>
        </p:txBody>
      </p:sp>
      <p:sp>
        <p:nvSpPr>
          <p:cNvPr id="13" name="validate-body-2">
            <a:extLst xmlns:a="http://schemas.openxmlformats.org/drawingml/2006/main">
              <a:ext uri="{FF2B5EF4-FFF2-40B4-BE49-F238E27FC236}">
                <a16:creationId xmlns:a16="http://schemas.microsoft.com/office/drawing/2014/main" id="{018DDC70-9590-477F-BD7B-6C2398CA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148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3 分钟内真实系统连续录屏，拍到输入、运行、输出、证据与 AI 标识。</a:t>
            </a:r>
          </a:p>
        </p:txBody>
      </p:sp>
      <p:sp>
        <p:nvSpPr>
          <p:cNvPr id="14" name="validate-index-3">
            <a:extLst xmlns:a="http://schemas.openxmlformats.org/drawingml/2006/main">
              <a:ext uri="{FF2B5EF4-FFF2-40B4-BE49-F238E27FC236}">
                <a16:creationId xmlns:a16="http://schemas.microsoft.com/office/drawing/2014/main" id="{53766F7E-DB57-4FDF-9727-9A3A601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validate-head-3">
            <a:extLst xmlns:a="http://schemas.openxmlformats.org/drawingml/2006/main">
              <a:ext uri="{FF2B5EF4-FFF2-40B4-BE49-F238E27FC236}">
                <a16:creationId xmlns:a16="http://schemas.microsoft.com/office/drawing/2014/main" id="{F3FE4C1C-65BE-4CF9-901F-3DCF434F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外网</a:t>
            </a:r>
          </a:p>
        </p:txBody>
      </p:sp>
      <p:sp>
        <p:nvSpPr>
          <p:cNvPr id="16" name="validate-body-3">
            <a:extLst xmlns:a="http://schemas.openxmlformats.org/drawingml/2006/main">
              <a:ext uri="{FF2B5EF4-FFF2-40B4-BE49-F238E27FC236}">
                <a16:creationId xmlns:a16="http://schemas.microsoft.com/office/drawing/2014/main" id="{D738246B-95A2-41D9-A954-DE3B0691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部署公开 Demo，准备低权限账号，从全新浏览器完整走查。</a:t>
            </a:r>
          </a:p>
        </p:txBody>
      </p:sp>
    </p:spTree>
    <p:extLst>
      <p:ext uri="{BB962C8B-B14F-4D97-AF65-F5344CB8AC3E}">
        <p14:creationId xmlns:p14="http://schemas.microsoft.com/office/powerpoint/2010/main" val="881329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AB41D2EB-0F46-4CB4-8FB6-A3A3C2D6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SCIPILOT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98CB771-4089-45AA-BB59-E6003DB1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382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让每一个科研结论，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都能回到它的证据与过程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334A4DF9-7C2F-4832-8684-B620FE4F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rPr>
              <a:t>从一次回答，走向可持续、可审核、可复现的科研训练工作流。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A6CCA5A6-D471-4963-9FDF-F17828AE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28750"/>
            <a:ext cx="1562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meta">
            <a:extLst xmlns:a="http://schemas.openxmlformats.org/drawingml/2006/main">
              <a:ext uri="{FF2B5EF4-FFF2-40B4-BE49-F238E27FC236}">
                <a16:creationId xmlns:a16="http://schemas.microsoft.com/office/drawing/2014/main" id="{FE3D003F-9F5B-4110-B70C-E81D2340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团队：朱振源 · 吕尚霖 · 王泳豪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指导教师：范永刚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大连理工大学</a:t>
            </a:r>
          </a:p>
        </p:txBody>
      </p:sp>
    </p:spTree>
    <p:extLst>
      <p:ext uri="{BB962C8B-B14F-4D97-AF65-F5344CB8AC3E}">
        <p14:creationId xmlns:p14="http://schemas.microsoft.com/office/powerpoint/2010/main" val="1194136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2026-08-22T03:00:20.7120000Z</dcterms:created>
  <dcterms:modified xsi:type="dcterms:W3CDTF">2026-08-22T03:00:20.7120000Z</dcterms:modified>
</coreProperties>
</file>